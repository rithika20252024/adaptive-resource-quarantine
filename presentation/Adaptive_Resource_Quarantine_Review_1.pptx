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500000"/>
            <a:ext cx="7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 b="1">
                <a:solidFill>
                  <a:srgbClr val="8C532B"/>
                </a:solidFill>
                <a:latin typeface="Arial"/>
              </a:rPr>
              <a:t>PROJECT REVIEW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950000"/>
            <a:ext cx="6800000" cy="1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3800" b="1">
                <a:solidFill>
                  <a:srgbClr val="1C1917"/>
                </a:solidFill>
                <a:latin typeface="Georgia"/>
              </a:rPr>
              <a:t>Adaptive Resource</a:t>
            </a:r>
          </a:p>
          <a:p>
            <a:pPr algn="l"/>
            <a:r>
              <a:rPr lang="en-US" sz="3800" b="1">
                <a:solidFill>
                  <a:srgbClr val="1C1917"/>
                </a:solidFill>
                <a:latin typeface="Georgia"/>
              </a:rPr>
              <a:t>Quarantine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2600000"/>
            <a:ext cx="6800000" cy="7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600" i="1">
                <a:solidFill>
                  <a:srgbClr val="8C532B"/>
                </a:solidFill>
                <a:latin typeface="Georgia"/>
              </a:rPr>
              <a:t>for Protecting Operating Systems Against Abnormal Process Behavior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3450000"/>
            <a:ext cx="6800000" cy="9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00">
                <a:solidFill>
                  <a:srgbClr val="1C1917"/>
                </a:solidFill>
                <a:latin typeface="Arial"/>
              </a:rPr>
              <a:t>A lightweight OS mechanism that scores abnormal process behavior and temporarily restricts its resources instead of killing it, then releases it once it recovers.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00" y="4600000"/>
            <a:ext cx="680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TEAM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00" y="4950000"/>
            <a:ext cx="6800000" cy="1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50" b="1">
                <a:solidFill>
                  <a:srgbClr val="1C1917"/>
                </a:solidFill>
                <a:latin typeface="Arial"/>
              </a:rPr>
              <a:t>Name: Rithika.s   Reg. No.: 24BCE2984  ·  B.Tech CSE</a:t>
            </a:r>
          </a:p>
          <a:p>
            <a:pPr algn="l"/>
            <a:r>
              <a:rPr lang="en-US" sz="1250" b="1">
                <a:solidFill>
                  <a:srgbClr val="1C1917"/>
                </a:solidFill>
                <a:latin typeface="Arial"/>
              </a:rPr>
              <a:t>Name: K.VAISHNAVI   Reg. No.: 24BCT0183  ·  B.Tech CSE IOT</a:t>
            </a:r>
          </a:p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Lab slot: L15+16</a:t>
            </a:r>
          </a:p>
          <a:p>
            <a:pPr algn="l"/>
            <a:r>
              <a:rPr lang="en-US" sz="1200">
                <a:solidFill>
                  <a:srgbClr val="1C1917"/>
                </a:solidFill>
                <a:latin typeface="Arial"/>
              </a:rPr>
              <a:t>Faculty: Dr. Anisha M Lal  ·  Department of Computer Science and Engineering</a:t>
            </a:r>
          </a:p>
        </p:txBody>
      </p:sp>
      <p:sp>
        <p:nvSpPr>
          <p:cNvPr id="9" name="Card 9"/>
          <p:cNvSpPr/>
          <p:nvPr/>
        </p:nvSpPr>
        <p:spPr>
          <a:xfrm>
            <a:off x="7800000" y="750000"/>
            <a:ext cx="3800000" cy="54000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DDD4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100000" y="1000000"/>
            <a:ext cx="320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THE QUARANTINE LOOP</a:t>
            </a:r>
          </a:p>
        </p:txBody>
      </p:sp>
      <p:sp>
        <p:nvSpPr>
          <p:cNvPr id="11" name="Badge 11"/>
          <p:cNvSpPr/>
          <p:nvPr/>
        </p:nvSpPr>
        <p:spPr>
          <a:xfrm>
            <a:off x="8150000" y="1480000"/>
            <a:ext cx="480000" cy="48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50000" y="1450000"/>
            <a:ext cx="26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Monitor and score</a:t>
            </a:r>
          </a:p>
          <a:p>
            <a:pPr algn="l"/>
            <a:r>
              <a:rPr lang="en-US" sz="1100">
                <a:solidFill>
                  <a:srgbClr val="57534E"/>
                </a:solidFill>
                <a:latin typeface="Arial"/>
              </a:rPr>
              <a:t>CPU, memory, I/O</a:t>
            </a:r>
          </a:p>
        </p:txBody>
      </p:sp>
      <p:sp>
        <p:nvSpPr>
          <p:cNvPr id="13" name="Badge 13"/>
          <p:cNvSpPr/>
          <p:nvPr/>
        </p:nvSpPr>
        <p:spPr>
          <a:xfrm>
            <a:off x="8150000" y="2580000"/>
            <a:ext cx="480000" cy="48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50000" y="2550000"/>
            <a:ext cx="26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Quarantine</a:t>
            </a:r>
          </a:p>
          <a:p>
            <a:pPr algn="l"/>
            <a:r>
              <a:rPr lang="en-US" sz="1100">
                <a:solidFill>
                  <a:srgbClr val="57534E"/>
                </a:solidFill>
                <a:latin typeface="Arial"/>
              </a:rPr>
              <a:t>Throttle, don't kill</a:t>
            </a:r>
          </a:p>
        </p:txBody>
      </p:sp>
      <p:sp>
        <p:nvSpPr>
          <p:cNvPr id="15" name="Badge 15"/>
          <p:cNvSpPr/>
          <p:nvPr/>
        </p:nvSpPr>
        <p:spPr>
          <a:xfrm>
            <a:off x="8150000" y="3680000"/>
            <a:ext cx="480000" cy="48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50000" y="3650000"/>
            <a:ext cx="26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Re-evaluate</a:t>
            </a:r>
          </a:p>
          <a:p>
            <a:pPr algn="l"/>
            <a:r>
              <a:rPr lang="en-US" sz="1100">
                <a:solidFill>
                  <a:srgbClr val="57534E"/>
                </a:solidFill>
                <a:latin typeface="Arial"/>
              </a:rPr>
              <a:t>Is behavior normal?</a:t>
            </a:r>
          </a:p>
        </p:txBody>
      </p:sp>
      <p:sp>
        <p:nvSpPr>
          <p:cNvPr id="17" name="Badge 17"/>
          <p:cNvSpPr/>
          <p:nvPr/>
        </p:nvSpPr>
        <p:spPr>
          <a:xfrm>
            <a:off x="8150000" y="4780000"/>
            <a:ext cx="480000" cy="480000"/>
          </a:xfrm>
          <a:prstGeom prst="ellipse">
            <a:avLst/>
          </a:prstGeom>
          <a:solidFill>
            <a:srgbClr val="235347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50000" y="4750000"/>
            <a:ext cx="26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Release or Terminate</a:t>
            </a:r>
          </a:p>
          <a:p>
            <a:pPr algn="l"/>
            <a:r>
              <a:rPr lang="en-US" sz="1100">
                <a:solidFill>
                  <a:srgbClr val="57534E"/>
                </a:solidFill>
                <a:latin typeface="Arial"/>
              </a:rPr>
              <a:t>Recover, or end 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ABSTRACT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Restrict first, terminate only if needed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2</a:t>
            </a:r>
          </a:p>
        </p:txBody>
      </p:sp>
      <p:sp>
        <p:nvSpPr>
          <p:cNvPr id="7" name="Card 7"/>
          <p:cNvSpPr/>
          <p:nvPr/>
        </p:nvSpPr>
        <p:spPr>
          <a:xfrm>
            <a:off x="600000" y="1500000"/>
            <a:ext cx="6800000" cy="4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000" y="1750000"/>
            <a:ext cx="6300000" cy="41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Modern operating systems run many processes at once, and abnormal resource consumption by a single process can significantly affect overall performance and stability.</a:t>
            </a:r>
          </a:p>
          <a:p>
            <a:pPr algn="l"/>
            <a:r>
              <a:rPr lang="en-US" sz="600">
                <a:solidFill>
                  <a:srgbClr val="1C1917"/>
                </a:solidFill>
                <a:latin typeface="Arial"/>
              </a:rPr>
              <a:t/>
            </a:r>
          </a:p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This project proposes an Adaptive Resource Quarantine mechanism that continuously monitors CPU utilization, memory consumption, I/O activity and execution patterns. A process that behaves abnormally receives an anomaly score and has its resource access temporarily restricted, rather than being terminated immediately.</a:t>
            </a:r>
          </a:p>
          <a:p>
            <a:pPr algn="l"/>
            <a:r>
              <a:rPr lang="en-US" sz="600">
                <a:solidFill>
                  <a:srgbClr val="1C1917"/>
                </a:solidFill>
                <a:latin typeface="Arial"/>
              </a:rPr>
              <a:t/>
            </a:r>
          </a:p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CPU priority, memory usage and I/O access are controlled dynamically during quarantine. The process is released when its behavior returns to normal, or terminated if the abnormal behavior persists.</a:t>
            </a:r>
          </a:p>
          <a:p>
            <a:pPr algn="l"/>
            <a:r>
              <a:rPr lang="en-US" sz="600">
                <a:solidFill>
                  <a:srgbClr val="1C1917"/>
                </a:solidFill>
                <a:latin typeface="Arial"/>
              </a:rPr>
              <a:t/>
            </a:r>
          </a:p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The goal is lightweight process isolation that preserves system availability and limits the impact of resource-intensive or potentially malicious processes.</a:t>
            </a:r>
          </a:p>
        </p:txBody>
      </p:sp>
      <p:sp>
        <p:nvSpPr>
          <p:cNvPr id="9" name="Card 9"/>
          <p:cNvSpPr/>
          <p:nvPr/>
        </p:nvSpPr>
        <p:spPr>
          <a:xfrm>
            <a:off x="7650000" y="1500000"/>
            <a:ext cx="39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900000" y="1750000"/>
            <a:ext cx="34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500" b="1">
                <a:solidFill>
                  <a:srgbClr val="1C1917"/>
                </a:solidFill>
                <a:latin typeface="Georgia"/>
              </a:rPr>
              <a:t>Anomaly score</a:t>
            </a:r>
          </a:p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Multi-metric, not a single threshold.</a:t>
            </a:r>
          </a:p>
        </p:txBody>
      </p:sp>
      <p:sp>
        <p:nvSpPr>
          <p:cNvPr id="11" name="Card 11"/>
          <p:cNvSpPr/>
          <p:nvPr/>
        </p:nvSpPr>
        <p:spPr>
          <a:xfrm>
            <a:off x="7650000" y="3125000"/>
            <a:ext cx="39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900000" y="3375000"/>
            <a:ext cx="34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500" b="1">
                <a:solidFill>
                  <a:srgbClr val="1C1917"/>
                </a:solidFill>
                <a:latin typeface="Georgia"/>
              </a:rPr>
              <a:t>Graduated restriction</a:t>
            </a:r>
          </a:p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CPU priority, memory and I/O controlled together.</a:t>
            </a:r>
          </a:p>
        </p:txBody>
      </p:sp>
      <p:sp>
        <p:nvSpPr>
          <p:cNvPr id="13" name="Card 13"/>
          <p:cNvSpPr/>
          <p:nvPr/>
        </p:nvSpPr>
        <p:spPr>
          <a:xfrm>
            <a:off x="7650000" y="4750000"/>
            <a:ext cx="39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900000" y="5000000"/>
            <a:ext cx="34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500" b="1">
                <a:solidFill>
                  <a:srgbClr val="1C1917"/>
                </a:solidFill>
                <a:latin typeface="Georgia"/>
              </a:rPr>
              <a:t>Release or terminate</a:t>
            </a:r>
          </a:p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Recover on normal behavior; end it if abnormal behavior persists.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INTRODUCTION: CONTEXT AND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One runaway process should not take the system down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00" y="1600000"/>
            <a:ext cx="5000000" cy="12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pPr marL="288000" indent="-288000">
              <a:buFont typeface="Arial"/>
              <a:buChar char="•"/>
            </a:pPr>
            <a:r>
              <a:rPr lang="en-US" sz="1350" b="1">
                <a:solidFill>
                  <a:srgbClr val="1C1917"/>
                </a:solidFill>
                <a:latin typeface="Arial"/>
              </a:rPr>
              <a:t>Shared resources, shared fate.</a:t>
            </a:r>
            <a:r>
              <a:rPr lang="en-US" sz="1350">
                <a:solidFill>
                  <a:srgbClr val="1C1917"/>
                </a:solidFill>
                <a:latin typeface="Arial"/>
              </a:rPr>
              <a:t> Processes compete for the same CPU, memory and I/O, so one misbehaving process can degrade or destabilize all the others.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00" y="3000000"/>
            <a:ext cx="5000000" cy="12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pPr marL="288000" indent="-288000">
              <a:buFont typeface="Arial"/>
              <a:buChar char="•"/>
            </a:pPr>
            <a:r>
              <a:rPr lang="en-US" sz="1350" b="1">
                <a:solidFill>
                  <a:srgbClr val="1C1917"/>
                </a:solidFill>
                <a:latin typeface="Arial"/>
              </a:rPr>
              <a:t>Killing is blunt.</a:t>
            </a:r>
            <a:r>
              <a:rPr lang="en-US" sz="1350">
                <a:solidFill>
                  <a:srgbClr val="1C1917"/>
                </a:solidFill>
                <a:latin typeface="Arial"/>
              </a:rPr>
              <a:t> Terminating a process loses its state, and can kill a legitimate workload that was only busy.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00" y="4400000"/>
            <a:ext cx="5000000" cy="12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pPr marL="288000" indent="-288000">
              <a:buFont typeface="Arial"/>
              <a:buChar char="•"/>
            </a:pPr>
            <a:r>
              <a:rPr lang="en-US" sz="1350" b="1">
                <a:solidFill>
                  <a:srgbClr val="1C1917"/>
                </a:solidFill>
                <a:latin typeface="Arial"/>
              </a:rPr>
              <a:t>Static caps are rigid.</a:t>
            </a:r>
            <a:r>
              <a:rPr lang="en-US" sz="1350">
                <a:solidFill>
                  <a:srgbClr val="1C1917"/>
                </a:solidFill>
                <a:latin typeface="Arial"/>
              </a:rPr>
              <a:t> Fixed limits cannot separate a short burst from sustained abuse, and rarely scale back up on their own.</a:t>
            </a:r>
          </a:p>
        </p:txBody>
      </p:sp>
      <p:sp>
        <p:nvSpPr>
          <p:cNvPr id="10" name="Card 10"/>
          <p:cNvSpPr/>
          <p:nvPr/>
        </p:nvSpPr>
        <p:spPr>
          <a:xfrm>
            <a:off x="5850000" y="1500000"/>
            <a:ext cx="5750000" cy="46500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DDD4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100000" y="1750000"/>
            <a:ext cx="52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50" b="1">
                <a:solidFill>
                  <a:srgbClr val="8C532B"/>
                </a:solidFill>
                <a:latin typeface="Arial"/>
              </a:rPr>
              <a:t>TODAY: STATIC CAP OR KILL</a:t>
            </a:r>
          </a:p>
        </p:txBody>
      </p:sp>
      <p:sp>
        <p:nvSpPr>
          <p:cNvPr id="12" name="Card 12"/>
          <p:cNvSpPr/>
          <p:nvPr/>
        </p:nvSpPr>
        <p:spPr>
          <a:xfrm>
            <a:off x="6100000" y="2100000"/>
            <a:ext cx="14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150000" y="2250000"/>
            <a:ext cx="130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00" b="1">
                <a:solidFill>
                  <a:srgbClr val="1C1917"/>
                </a:solidFill>
                <a:latin typeface="Arial"/>
              </a:rPr>
              <a:t>Process
misbehaves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0000" y="2300000"/>
            <a:ext cx="300000" cy="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600">
                <a:solidFill>
                  <a:srgbClr val="57534E"/>
                </a:solidFill>
                <a:latin typeface="Arial"/>
              </a:rPr>
              <a:t>→</a:t>
            </a:r>
          </a:p>
        </p:txBody>
      </p:sp>
      <p:sp>
        <p:nvSpPr>
          <p:cNvPr id="15" name="Card 15"/>
          <p:cNvSpPr/>
          <p:nvPr/>
        </p:nvSpPr>
        <p:spPr>
          <a:xfrm>
            <a:off x="7800000" y="2100000"/>
            <a:ext cx="14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850000" y="2250000"/>
            <a:ext cx="130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00" b="1">
                <a:solidFill>
                  <a:srgbClr val="1C1917"/>
                </a:solidFill>
                <a:latin typeface="Arial"/>
              </a:rPr>
              <a:t>Threshold
crossed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00000" y="2300000"/>
            <a:ext cx="300000" cy="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600">
                <a:solidFill>
                  <a:srgbClr val="57534E"/>
                </a:solidFill>
                <a:latin typeface="Arial"/>
              </a:rPr>
              <a:t>→</a:t>
            </a:r>
          </a:p>
        </p:txBody>
      </p:sp>
      <p:sp>
        <p:nvSpPr>
          <p:cNvPr id="18" name="Card 18"/>
          <p:cNvSpPr/>
          <p:nvPr/>
        </p:nvSpPr>
        <p:spPr>
          <a:xfrm>
            <a:off x="9500000" y="2100000"/>
            <a:ext cx="1700000" cy="75000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6C9B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550000" y="2320000"/>
            <a:ext cx="160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100" b="1">
                <a:solidFill>
                  <a:srgbClr val="693818"/>
                </a:solidFill>
                <a:latin typeface="Arial"/>
              </a:rPr>
              <a:t>Cap or kill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00000" y="3200000"/>
            <a:ext cx="52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50" b="1">
                <a:solidFill>
                  <a:srgbClr val="8C532B"/>
                </a:solidFill>
                <a:latin typeface="Arial"/>
              </a:rPr>
              <a:t>PROPOSED: ADAPTIVE QUARANTINE</a:t>
            </a:r>
          </a:p>
        </p:txBody>
      </p:sp>
      <p:sp>
        <p:nvSpPr>
          <p:cNvPr id="21" name="Card 21"/>
          <p:cNvSpPr/>
          <p:nvPr/>
        </p:nvSpPr>
        <p:spPr>
          <a:xfrm>
            <a:off x="6100000" y="3550000"/>
            <a:ext cx="105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120000" y="3770000"/>
            <a:ext cx="101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50" b="1">
                <a:solidFill>
                  <a:srgbClr val="1C1917"/>
                </a:solidFill>
                <a:latin typeface="Arial"/>
              </a:rPr>
              <a:t>Monitor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50000" y="3750000"/>
            <a:ext cx="250000" cy="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500">
                <a:solidFill>
                  <a:srgbClr val="57534E"/>
                </a:solidFill>
                <a:latin typeface="Arial"/>
              </a:rPr>
              <a:t>→</a:t>
            </a:r>
          </a:p>
        </p:txBody>
      </p:sp>
      <p:sp>
        <p:nvSpPr>
          <p:cNvPr id="24" name="Card 24"/>
          <p:cNvSpPr/>
          <p:nvPr/>
        </p:nvSpPr>
        <p:spPr>
          <a:xfrm>
            <a:off x="7400000" y="3550000"/>
            <a:ext cx="105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20000" y="3770000"/>
            <a:ext cx="101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50" b="1">
                <a:solidFill>
                  <a:srgbClr val="1C1917"/>
                </a:solidFill>
                <a:latin typeface="Arial"/>
              </a:rPr>
              <a:t>Score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0000" y="3750000"/>
            <a:ext cx="250000" cy="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500">
                <a:solidFill>
                  <a:srgbClr val="57534E"/>
                </a:solidFill>
                <a:latin typeface="Arial"/>
              </a:rPr>
              <a:t>→</a:t>
            </a:r>
          </a:p>
        </p:txBody>
      </p:sp>
      <p:sp>
        <p:nvSpPr>
          <p:cNvPr id="27" name="Card 27"/>
          <p:cNvSpPr/>
          <p:nvPr/>
        </p:nvSpPr>
        <p:spPr>
          <a:xfrm>
            <a:off x="8700000" y="3550000"/>
            <a:ext cx="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720000" y="3770000"/>
            <a:ext cx="116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50" b="1">
                <a:solidFill>
                  <a:srgbClr val="1C1917"/>
                </a:solidFill>
                <a:latin typeface="Arial"/>
              </a:rPr>
              <a:t>Quarantine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00000" y="3750000"/>
            <a:ext cx="250000" cy="3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500">
                <a:solidFill>
                  <a:srgbClr val="57534E"/>
                </a:solidFill>
                <a:latin typeface="Arial"/>
              </a:rPr>
              <a:t>→</a:t>
            </a:r>
          </a:p>
        </p:txBody>
      </p:sp>
      <p:sp>
        <p:nvSpPr>
          <p:cNvPr id="30" name="Card 30"/>
          <p:cNvSpPr/>
          <p:nvPr/>
        </p:nvSpPr>
        <p:spPr>
          <a:xfrm>
            <a:off x="10150000" y="3550000"/>
            <a:ext cx="1250000" cy="750000"/>
          </a:xfrm>
          <a:prstGeom prst="roundRect">
            <a:avLst/>
          </a:prstGeom>
          <a:solidFill>
            <a:srgbClr val="235347"/>
          </a:solidFill>
          <a:ln w="12700">
            <a:solidFill>
              <a:srgbClr val="23534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70000" y="3770000"/>
            <a:ext cx="121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rial"/>
              </a:rPr>
              <a:t>Release / End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00000" y="4850000"/>
            <a:ext cx="5200000" cy="9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 i="1">
                <a:solidFill>
                  <a:srgbClr val="57534E"/>
                </a:solidFill>
                <a:latin typeface="Georgia"/>
              </a:rPr>
              <a:t>The proposed loop is closed: behavior is re-scored during quarantine, so restriction eases or tightens with the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INTRODUCTION: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Seven measurable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4</a:t>
            </a:r>
          </a:p>
        </p:txBody>
      </p:sp>
      <p:sp>
        <p:nvSpPr>
          <p:cNvPr id="7" name="Card 7"/>
          <p:cNvSpPr/>
          <p:nvPr/>
        </p:nvSpPr>
        <p:spPr>
          <a:xfrm>
            <a:off x="600000" y="160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8" name="Badge 8"/>
          <p:cNvSpPr/>
          <p:nvPr/>
        </p:nvSpPr>
        <p:spPr>
          <a:xfrm>
            <a:off x="800000" y="180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000" y="230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Continuous monitoring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000" y="2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Track CPU, memory and I/O usage of running processes.</a:t>
            </a:r>
          </a:p>
        </p:txBody>
      </p:sp>
      <p:sp>
        <p:nvSpPr>
          <p:cNvPr id="11" name="Card 11"/>
          <p:cNvSpPr/>
          <p:nvPr/>
        </p:nvSpPr>
        <p:spPr>
          <a:xfrm>
            <a:off x="3400000" y="160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2" name="Badge 12"/>
          <p:cNvSpPr/>
          <p:nvPr/>
        </p:nvSpPr>
        <p:spPr>
          <a:xfrm>
            <a:off x="3600000" y="180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0000" y="230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Anomaly scoring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00000" y="2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Identify abnormal behavior from consumption patterns.</a:t>
            </a:r>
          </a:p>
        </p:txBody>
      </p:sp>
      <p:sp>
        <p:nvSpPr>
          <p:cNvPr id="15" name="Card 15"/>
          <p:cNvSpPr/>
          <p:nvPr/>
        </p:nvSpPr>
        <p:spPr>
          <a:xfrm>
            <a:off x="6200000" y="160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6" name="Badge 16"/>
          <p:cNvSpPr/>
          <p:nvPr/>
        </p:nvSpPr>
        <p:spPr>
          <a:xfrm>
            <a:off x="6400000" y="180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0000" y="230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Adaptive quarantine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000" y="2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Temporarily restrict resources of abnormal processes.</a:t>
            </a:r>
          </a:p>
        </p:txBody>
      </p:sp>
      <p:sp>
        <p:nvSpPr>
          <p:cNvPr id="19" name="Card 19"/>
          <p:cNvSpPr/>
          <p:nvPr/>
        </p:nvSpPr>
        <p:spPr>
          <a:xfrm>
            <a:off x="9000000" y="160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0" name="Badge 20"/>
          <p:cNvSpPr/>
          <p:nvPr/>
        </p:nvSpPr>
        <p:spPr>
          <a:xfrm>
            <a:off x="9200000" y="180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0000" y="230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Protect other processes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00000" y="2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Stop one process from degrading the rest.</a:t>
            </a:r>
          </a:p>
        </p:txBody>
      </p:sp>
      <p:sp>
        <p:nvSpPr>
          <p:cNvPr id="23" name="Card 23"/>
          <p:cNvSpPr/>
          <p:nvPr/>
        </p:nvSpPr>
        <p:spPr>
          <a:xfrm>
            <a:off x="600000" y="395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4" name="Badge 24"/>
          <p:cNvSpPr/>
          <p:nvPr/>
        </p:nvSpPr>
        <p:spPr>
          <a:xfrm>
            <a:off x="800000" y="415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0000" y="465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Dynamic restoration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000" y="520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Restore normal allocation once behavior recovers.</a:t>
            </a:r>
          </a:p>
        </p:txBody>
      </p:sp>
      <p:sp>
        <p:nvSpPr>
          <p:cNvPr id="27" name="Card 27"/>
          <p:cNvSpPr/>
          <p:nvPr/>
        </p:nvSpPr>
        <p:spPr>
          <a:xfrm>
            <a:off x="3400000" y="395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8" name="Badge 28"/>
          <p:cNvSpPr/>
          <p:nvPr/>
        </p:nvSpPr>
        <p:spPr>
          <a:xfrm>
            <a:off x="3600000" y="415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00000" y="465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Evaluation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00000" y="520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CPU utilization, memory, response time, I/O, recovery time.</a:t>
            </a:r>
          </a:p>
        </p:txBody>
      </p:sp>
      <p:sp>
        <p:nvSpPr>
          <p:cNvPr id="31" name="Card 31"/>
          <p:cNvSpPr/>
          <p:nvPr/>
        </p:nvSpPr>
        <p:spPr>
          <a:xfrm>
            <a:off x="6200000" y="3950000"/>
            <a:ext cx="2650000" cy="2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32" name="Badge 32"/>
          <p:cNvSpPr/>
          <p:nvPr/>
        </p:nvSpPr>
        <p:spPr>
          <a:xfrm>
            <a:off x="6400000" y="4150000"/>
            <a:ext cx="350000" cy="350000"/>
          </a:xfrm>
          <a:prstGeom prst="ellipse">
            <a:avLst/>
          </a:prstGeom>
          <a:solidFill>
            <a:srgbClr val="8C532B"/>
          </a:solidFill>
          <a:ln>
            <a:noFill/>
          </a:ln>
        </p:spPr>
        <p:txBody>
          <a:bodyPr rtlCol="0" anchor="ctr" lIns="0" tIns="0" rIns="0" bIns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00000" y="4650000"/>
            <a:ext cx="22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 b="1">
                <a:solidFill>
                  <a:srgbClr val="1C1917"/>
                </a:solidFill>
                <a:latin typeface="Georgia"/>
              </a:rPr>
              <a:t>Lightweight alternative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00000" y="520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57534E"/>
                </a:solidFill>
                <a:latin typeface="Arial"/>
              </a:rPr>
              <a:t>Avoid immediately terminating abnormal processes.</a:t>
            </a:r>
          </a:p>
        </p:txBody>
      </p:sp>
      <p:sp>
        <p:nvSpPr>
          <p:cNvPr id="35" name="Card 35"/>
          <p:cNvSpPr/>
          <p:nvPr/>
        </p:nvSpPr>
        <p:spPr>
          <a:xfrm>
            <a:off x="9000000" y="3950000"/>
            <a:ext cx="2650000" cy="2150000"/>
          </a:xfrm>
          <a:prstGeom prst="roundRect">
            <a:avLst/>
          </a:prstGeom>
          <a:solidFill>
            <a:srgbClr val="235347"/>
          </a:solidFill>
          <a:ln w="12700">
            <a:solidFill>
              <a:srgbClr val="23534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220000" y="4200000"/>
            <a:ext cx="221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50" b="1">
                <a:solidFill>
                  <a:srgbClr val="D5E5E0"/>
                </a:solidFill>
                <a:latin typeface="Arial"/>
              </a:rPr>
              <a:t>CORE IDEA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20000" y="4650000"/>
            <a:ext cx="2210000" cy="12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Georgia"/>
              </a:rPr>
              <a:t>Restrict, don't kill.</a:t>
            </a:r>
          </a:p>
          <a:p>
            <a:pPr algn="l"/>
            <a:r>
              <a:rPr lang="en-US" sz="1700" b="1">
                <a:solidFill>
                  <a:srgbClr val="FFFFFF"/>
                </a:solidFill>
                <a:latin typeface="Georgia"/>
              </a:rPr>
              <a:t>Release on</a:t>
            </a:r>
          </a:p>
          <a:p>
            <a:pPr algn="l"/>
            <a:r>
              <a:rPr lang="en-US" sz="1700" b="1">
                <a:solidFill>
                  <a:srgbClr val="FFFFFF"/>
                </a:solidFill>
                <a:latin typeface="Georgia"/>
              </a:rPr>
              <a:t>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LITERATURE SURVEY: DETECTING ABNORMAL BEHAVIOR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Detection is well studied, but stops at flagging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00000" y="1600000"/>
          <a:ext cx="11000000" cy="4500000"/>
        </p:xfrm>
        <a:graphic>
          <a:graphicData uri="http://schemas.openxmlformats.org/drawingml/2006/table">
            <a:tbl>
              <a:tblPr/>
              <a:tblGrid>
                <a:gridCol w="3200000"/>
                <a:gridCol w="3500000"/>
                <a:gridCol w="4300000"/>
              </a:tblGrid>
              <a:tr h="400000"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Limitation / key finding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Ibidunmoye et al., ACM Computing Surveys, 2015
Performance Anomaly Detection and Bottleneck Identification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Surveys detection goals, application types, observability and methods for performance anomalies.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Shows the problem is hard and varied, with contention across CPU, memory, disk and network. A survey, so it prescribes no process-level response.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Zhang et al., AIPR, 2023
Anomaly Detection Model for Process Resource Usage ... eBPF and Isolation Forest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eBPF collects process-level resource telemetry; Isolation Forest flags anomalous usage.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Detection-focused. The reported design has no throttling, quarantine or release step.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Ma et al., CCC, 2025
Memory Anomaly Detection and Analysis Based on eBPF and Isolation Forest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Detects and locates potential memory anomalies in the operating system.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Memory only, and meant as a diagnostic aid for developers rather than an automatic control.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Szabo et al., IEEE TDSC, 2020
Adaptive Performance Anomaly Detection in Distributed Systems Using Online SVMs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Online SVMs learn without historical failure data; F-score above 0.70 on unseen anomalies.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Aimed at distributed systems. Flags anomalies but does not control the offending process.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LITERATURE SURVEY: CONTAINING ABNORMAL BEHAVIOR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Containment works, but release is rarely addressed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00000" y="1600000"/>
          <a:ext cx="11000000" cy="4500000"/>
        </p:xfrm>
        <a:graphic>
          <a:graphicData uri="http://schemas.openxmlformats.org/drawingml/2006/table">
            <a:tbl>
              <a:tblPr/>
              <a:tblGrid>
                <a:gridCol w="3200000"/>
                <a:gridCol w="3500000"/>
                <a:gridCol w="4300000"/>
              </a:tblGrid>
              <a:tr h="400000"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Limitation / key finding</a:t>
                      </a:r>
                    </a:p>
                  </a:txBody>
                  <a:tcPr>
                    <a:solidFill>
                      <a:srgbClr val="8C532B"/>
                    </a:solidFill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Somayaji, 2002
Operating system stability and security through process homeostasis (pH)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Linux kernel extension detects unusual program behavior and slows it by delaying system calls.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Few-percent performance penalty and low false positives, but slowdown acts through system calls, not direct CPU, memory and I/O allocation.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Nakagawa et al., IEEE, 2015
On-the-Fly Process Resource Quarantine for System Stabilization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Assigns dynamic kernel or cgroup limits after periodic inspection; targets memory limits and fork-bomb suppression.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Closest prior work. Centered on memory limits, with no multi-metric anomaly score or formal release policy.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Chen et al., SC20, 2020
Alita: Comprehensive Performance Isolation through Bias Resource Management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Identifies resource polluters online and throttles only them; tested on a 30,000-node cloud platform.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Works at VM and cloud level, not per-process inside a single OS. Release logic is not its focus.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Wang et al., FGCS, 2022
Characterizing and optimizing Kernel resource isolation for containers (Valve)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Limits misbehaving system-call usage; up to 98% (average 37.7%) isolation improvement.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Container-level kernel-object isolation, with no anomaly scoring or release step.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LITERATURE SURVEY: WHAT THE EVIDENCE SAYS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Adaptive isolation helps, so it is worth building well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7</a:t>
            </a:r>
          </a:p>
        </p:txBody>
      </p:sp>
      <p:sp>
        <p:nvSpPr>
          <p:cNvPr id="7" name="Card 7"/>
          <p:cNvSpPr/>
          <p:nvPr/>
        </p:nvSpPr>
        <p:spPr>
          <a:xfrm>
            <a:off x="600000" y="1600000"/>
            <a:ext cx="26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00000" y="1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3200" b="1">
                <a:solidFill>
                  <a:srgbClr val="8C532B"/>
                </a:solidFill>
                <a:latin typeface="Georgia"/>
              </a:rPr>
              <a:t>9 of 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000" y="2750000"/>
            <a:ext cx="22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1C1917"/>
                </a:solidFill>
                <a:latin typeface="Arial"/>
              </a:rPr>
              <a:t>papers that took a stance say adaptive quarantine reduces system-wide degradation.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000" y="3750000"/>
            <a:ext cx="225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00">
                <a:solidFill>
                  <a:srgbClr val="57534E"/>
                </a:solidFill>
                <a:latin typeface="Arial"/>
              </a:rPr>
              <a:t>Consensus Meter, N = 9</a:t>
            </a:r>
          </a:p>
        </p:txBody>
      </p:sp>
      <p:sp>
        <p:nvSpPr>
          <p:cNvPr id="11" name="Card 11"/>
          <p:cNvSpPr/>
          <p:nvPr/>
        </p:nvSpPr>
        <p:spPr>
          <a:xfrm>
            <a:off x="3380000" y="1600000"/>
            <a:ext cx="26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580000" y="1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3200" b="1">
                <a:solidFill>
                  <a:srgbClr val="8C532B"/>
                </a:solidFill>
                <a:latin typeface="Georgia"/>
              </a:rPr>
              <a:t>66%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80000" y="2750000"/>
            <a:ext cx="22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1C1917"/>
                </a:solidFill>
                <a:latin typeface="Arial"/>
              </a:rPr>
              <a:t>average CPU utilization, up from 21%, on 90,000+ Bing servers with no harm to tail latency.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80000" y="3750000"/>
            <a:ext cx="225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00">
                <a:solidFill>
                  <a:srgbClr val="57534E"/>
                </a:solidFill>
                <a:latin typeface="Arial"/>
              </a:rPr>
              <a:t>PerfIso, 2018</a:t>
            </a:r>
          </a:p>
        </p:txBody>
      </p:sp>
      <p:sp>
        <p:nvSpPr>
          <p:cNvPr id="15" name="Card 15"/>
          <p:cNvSpPr/>
          <p:nvPr/>
        </p:nvSpPr>
        <p:spPr>
          <a:xfrm>
            <a:off x="6160000" y="1600000"/>
            <a:ext cx="26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60000" y="1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3200" b="1">
                <a:solidFill>
                  <a:srgbClr val="8C532B"/>
                </a:solidFill>
                <a:latin typeface="Georgia"/>
              </a:rPr>
              <a:t>98%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60000" y="2750000"/>
            <a:ext cx="22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1C1917"/>
                </a:solidFill>
                <a:latin typeface="Arial"/>
              </a:rPr>
              <a:t>maximum kernel resource isolation improvement by limiting misbehaving system calls.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60000" y="3750000"/>
            <a:ext cx="225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00">
                <a:solidFill>
                  <a:srgbClr val="57534E"/>
                </a:solidFill>
                <a:latin typeface="Arial"/>
              </a:rPr>
              <a:t>Valve, 2022</a:t>
            </a:r>
          </a:p>
        </p:txBody>
      </p:sp>
      <p:sp>
        <p:nvSpPr>
          <p:cNvPr id="19" name="Card 19"/>
          <p:cNvSpPr/>
          <p:nvPr/>
        </p:nvSpPr>
        <p:spPr>
          <a:xfrm>
            <a:off x="8940000" y="1600000"/>
            <a:ext cx="26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140000" y="1850000"/>
            <a:ext cx="2250000" cy="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3200" b="1">
                <a:solidFill>
                  <a:srgbClr val="8C532B"/>
                </a:solidFill>
                <a:latin typeface="Georgia"/>
              </a:rPr>
              <a:t>6.9 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0000" y="2750000"/>
            <a:ext cx="2250000" cy="9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50">
                <a:solidFill>
                  <a:srgbClr val="1C1917"/>
                </a:solidFill>
                <a:latin typeface="Arial"/>
              </a:rPr>
              <a:t>recovery time ceiling after container out-of-memory events, even with multiple attackers.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0000" y="3750000"/>
            <a:ext cx="225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00">
                <a:solidFill>
                  <a:srgbClr val="57534E"/>
                </a:solidFill>
                <a:latin typeface="Arial"/>
              </a:rPr>
              <a:t>ROMA, 2026</a:t>
            </a:r>
          </a:p>
        </p:txBody>
      </p:sp>
      <p:sp>
        <p:nvSpPr>
          <p:cNvPr id="23" name="Card 23"/>
          <p:cNvSpPr/>
          <p:nvPr/>
        </p:nvSpPr>
        <p:spPr>
          <a:xfrm>
            <a:off x="600000" y="4450000"/>
            <a:ext cx="11000000" cy="160000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6C9B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00000" y="4650000"/>
            <a:ext cx="10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50" b="1">
                <a:solidFill>
                  <a:srgbClr val="8C532B"/>
                </a:solidFill>
                <a:latin typeface="Arial"/>
              </a:rPr>
              <a:t>THE CATCH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0000" y="4950000"/>
            <a:ext cx="10400000" cy="8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50">
                <a:solidFill>
                  <a:srgbClr val="1C1917"/>
                </a:solidFill>
                <a:latin typeface="Arial"/>
              </a:rPr>
              <a:t>Most of this work covers detection and mitigation. Very few studies evaluate how a restricted process is safely released once it behaves normally, and poorly tuned throttling can still cost throughput.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GAPS OF EXISTING SYSTEMS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Four gaps that no single system closes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8</a:t>
            </a:r>
          </a:p>
        </p:txBody>
      </p:sp>
      <p:sp>
        <p:nvSpPr>
          <p:cNvPr id="7" name="Card 7"/>
          <p:cNvSpPr/>
          <p:nvPr/>
        </p:nvSpPr>
        <p:spPr>
          <a:xfrm>
            <a:off x="600000" y="1650000"/>
            <a:ext cx="53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000" y="1850000"/>
            <a:ext cx="7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8C532B"/>
                </a:solidFill>
                <a:latin typeface="Georgi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0000" y="1900000"/>
            <a:ext cx="405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450" b="1">
                <a:solidFill>
                  <a:srgbClr val="1C1917"/>
                </a:solidFill>
                <a:latin typeface="Georgia"/>
              </a:rPr>
              <a:t>Release is under-studied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000" y="2500000"/>
            <a:ext cx="4850000" cy="11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Detection and mitigation are well developed, but automated restoration is largely unexplored. Many designs keep static throttling or need an administrator once a threshold is crossed.</a:t>
            </a:r>
          </a:p>
        </p:txBody>
      </p:sp>
      <p:sp>
        <p:nvSpPr>
          <p:cNvPr id="11" name="Card 11"/>
          <p:cNvSpPr/>
          <p:nvPr/>
        </p:nvSpPr>
        <p:spPr>
          <a:xfrm>
            <a:off x="6250000" y="1650000"/>
            <a:ext cx="53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500000" y="1850000"/>
            <a:ext cx="7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8C532B"/>
                </a:solidFill>
                <a:latin typeface="Georgia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0000" y="1900000"/>
            <a:ext cx="405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450" b="1">
                <a:solidFill>
                  <a:srgbClr val="1C1917"/>
                </a:solidFill>
                <a:latin typeface="Georgia"/>
              </a:rPr>
              <a:t>Static, single-signal thresholds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0000" y="2500000"/>
            <a:ext cx="4850000" cy="11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Fixed thresholds raise false alarms on bursty workloads, and static caps can throttle unnecessarily, as shown in Linux CFS bandwidth control.</a:t>
            </a:r>
          </a:p>
        </p:txBody>
      </p:sp>
      <p:sp>
        <p:nvSpPr>
          <p:cNvPr id="15" name="Card 15"/>
          <p:cNvSpPr/>
          <p:nvPr/>
        </p:nvSpPr>
        <p:spPr>
          <a:xfrm>
            <a:off x="600000" y="4050000"/>
            <a:ext cx="53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50000" y="4250000"/>
            <a:ext cx="7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8C532B"/>
                </a:solidFill>
                <a:latin typeface="Georgia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0000" y="4300000"/>
            <a:ext cx="405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450" b="1">
                <a:solidFill>
                  <a:srgbClr val="1C1917"/>
                </a:solidFill>
                <a:latin typeface="Georgia"/>
              </a:rPr>
              <a:t>Cross-resource blind spots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000" y="4900000"/>
            <a:ext cx="4850000" cy="11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Memory limits alone were not enough in Meta's datacenters: reclaim still interfered through I/O. CPU, memory and I/O need joint control.</a:t>
            </a:r>
          </a:p>
        </p:txBody>
      </p:sp>
      <p:sp>
        <p:nvSpPr>
          <p:cNvPr id="19" name="Card 19"/>
          <p:cNvSpPr/>
          <p:nvPr/>
        </p:nvSpPr>
        <p:spPr>
          <a:xfrm>
            <a:off x="6250000" y="4050000"/>
            <a:ext cx="53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500000" y="4250000"/>
            <a:ext cx="75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8C532B"/>
                </a:solidFill>
                <a:latin typeface="Georgia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00000" y="4300000"/>
            <a:ext cx="4050000" cy="4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450" b="1">
                <a:solidFill>
                  <a:srgbClr val="1C1917"/>
                </a:solidFill>
                <a:latin typeface="Georgia"/>
              </a:rPr>
              <a:t>Detection and control are disconnected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0000" y="4900000"/>
            <a:ext cx="4850000" cy="11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200">
                <a:solidFill>
                  <a:srgbClr val="57534E"/>
                </a:solidFill>
                <a:latin typeface="Arial"/>
              </a:rPr>
              <a:t>eBPF and Isolation Forest detectors only flag; enforcement systems act on thresholds. A process-level loop from score to restriction to release is missing.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GAPS OF EXISTING SYSTEMS: COMPARISON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The proposed mechanism closes the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9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00000" y="1600000"/>
          <a:ext cx="11000000" cy="4300000"/>
        </p:xfrm>
        <a:graphic>
          <a:graphicData uri="http://schemas.openxmlformats.org/drawingml/2006/table">
            <a:tbl>
              <a:tblPr/>
              <a:tblGrid>
                <a:gridCol w="1800000"/>
                <a:gridCol w="2000000"/>
                <a:gridCol w="2000000"/>
                <a:gridCol w="2000000"/>
                <a:gridCol w="2000000"/>
                <a:gridCol w="2200000"/>
              </a:tblGrid>
              <a:tr h="400000"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Nakagawa 2015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 (Somayaji)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Alita (Chen 2020)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eBPF + IF (Zhang 2023)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  <a:tc>
                  <a:txBody>
                    <a:bodyPr anchor="ctr" lIns="72000" tIns="72000" rIns="72000" bIns="72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Proposed</a:t>
                      </a:r>
                    </a:p>
                  </a:txBody>
                  <a:tcPr>
                    <a:solidFill>
                      <a:srgbClr val="235347"/>
                    </a:solidFill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Signals monitored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Memory, fork activity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System-call sequences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Shared-resource pollution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CPU, memory, I/O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CPU, memory, I/O, execution patterns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Anomaly detection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Periodic inspection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Short-range system-call baselines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Online polluter identification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Composite anomaly score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Response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Dynamic limits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System-call delays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Throttle polluters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None (detection only)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Graduated CPU, memory and I/O restriction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Release / recovery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Not evaluated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Not evaluated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Not evaluated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Not applicable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Auto-release on recovery, terminate if persistent</a:t>
                      </a:r>
                    </a:p>
                  </a:txBody>
                  <a:tcPr>
                    <a:solidFill>
                      <a:srgbClr val="F7F3EE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  <a:tr h="600000">
                <a:tc>
                  <a:txBody>
                    <a:bodyPr anchor="t" lIns="72000" tIns="54000" rIns="72000" bIns="54000"/>
                    <a:lstStyle/>
                    <a:p>
                      <a:r>
                        <a:rPr sz="1050" b="1">
                          <a:solidFill>
                            <a:srgbClr val="693818"/>
                          </a:solidFill>
                          <a:latin typeface="Arial"/>
                        </a:rPr>
                        <a:t>Granularity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VM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  <a:tc>
                  <a:txBody>
                    <a:bodyPr anchor="t" lIns="72000" tIns="54000" rIns="72000" bIns="54000"/>
                    <a:lstStyle/>
                    <a:p>
                      <a:r>
                        <a:rPr sz="1050">
                          <a:solidFill>
                            <a:srgbClr val="1C1917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4C8"/>
                      </a:solidFill>
                    </a:lnL>
                    <a:lnR w="6350">
                      <a:solidFill>
                        <a:srgbClr val="DDD4C8"/>
                      </a:solidFill>
                    </a:lnR>
                    <a:lnT w="6350">
                      <a:solidFill>
                        <a:srgbClr val="DDD4C8"/>
                      </a:solidFill>
                    </a:lnT>
                    <a:lnB w="6350">
                      <a:solidFill>
                        <a:srgbClr val="DDD4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00000" y="6050000"/>
            <a:ext cx="1100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 i="1">
                <a:solidFill>
                  <a:srgbClr val="57534E"/>
                </a:solidFill>
                <a:latin typeface="Arial"/>
              </a:rPr>
              <a:t>Entries are drawn from each work's published abstract and a literature-search summary; marked 'Not evaluated' where release was not reported.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0000" y="450000"/>
            <a:ext cx="11000000" cy="32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SUMMARY AND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00" y="780000"/>
            <a:ext cx="11000000" cy="6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2200" b="1">
                <a:solidFill>
                  <a:srgbClr val="1C1917"/>
                </a:solidFill>
                <a:latin typeface="Georgia"/>
              </a:rPr>
              <a:t>A lightweight, reversible response to abnormal processes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00" y="6450000"/>
            <a:ext cx="90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950">
                <a:solidFill>
                  <a:srgbClr val="57534E"/>
                </a:solidFill>
                <a:latin typeface="Arial"/>
              </a:rPr>
              <a:t>Adaptive Resource Quarantine · Project Review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0000" y="6450000"/>
            <a:ext cx="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r"/>
            <a:r>
              <a:rPr lang="en-US" sz="950">
                <a:solidFill>
                  <a:srgbClr val="57534E"/>
                </a:solidFill>
                <a:latin typeface="Arial"/>
              </a:rPr>
              <a:t>10</a:t>
            </a:r>
          </a:p>
        </p:txBody>
      </p:sp>
      <p:sp>
        <p:nvSpPr>
          <p:cNvPr id="7" name="Card 7"/>
          <p:cNvSpPr/>
          <p:nvPr/>
        </p:nvSpPr>
        <p:spPr>
          <a:xfrm>
            <a:off x="600000" y="1600000"/>
            <a:ext cx="353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000" y="1900000"/>
            <a:ext cx="303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THE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0000" y="2450000"/>
            <a:ext cx="3030000" cy="1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One abnormal process can degrade or destabilize a whole OS, and the usual answers are to kill it or cap it statically.</a:t>
            </a:r>
          </a:p>
        </p:txBody>
      </p:sp>
      <p:sp>
        <p:nvSpPr>
          <p:cNvPr id="10" name="Card 10"/>
          <p:cNvSpPr/>
          <p:nvPr/>
        </p:nvSpPr>
        <p:spPr>
          <a:xfrm>
            <a:off x="4335000" y="1600000"/>
            <a:ext cx="353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4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585000" y="1900000"/>
            <a:ext cx="303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THE GAP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5000" y="2450000"/>
            <a:ext cx="3030000" cy="1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Detection and throttling are mature, but few systems link multi-metric scoring to graduated restriction and a safe release.</a:t>
            </a:r>
          </a:p>
        </p:txBody>
      </p:sp>
      <p:sp>
        <p:nvSpPr>
          <p:cNvPr id="13" name="Card 13"/>
          <p:cNvSpPr/>
          <p:nvPr/>
        </p:nvSpPr>
        <p:spPr>
          <a:xfrm>
            <a:off x="8070000" y="1600000"/>
            <a:ext cx="3530000" cy="32000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8C532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320000" y="1900000"/>
            <a:ext cx="3030000" cy="3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100" b="1">
                <a:solidFill>
                  <a:srgbClr val="8C532B"/>
                </a:solidFill>
                <a:latin typeface="Arial"/>
              </a:rPr>
              <a:t>PROPOSED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20000" y="2450000"/>
            <a:ext cx="3030000" cy="18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350">
                <a:solidFill>
                  <a:srgbClr val="1C1917"/>
                </a:solidFill>
                <a:latin typeface="Arial"/>
              </a:rPr>
              <a:t>Monitor CPU, memory and I/O, score anomalies, quarantine adaptively, then release on recovery or terminate if abnormal behavior persists.</a:t>
            </a:r>
          </a:p>
        </p:txBody>
      </p:sp>
      <p:sp>
        <p:nvSpPr>
          <p:cNvPr id="16" name="Card 16"/>
          <p:cNvSpPr/>
          <p:nvPr/>
        </p:nvSpPr>
        <p:spPr>
          <a:xfrm>
            <a:off x="600000" y="5050000"/>
            <a:ext cx="11000000" cy="115000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6C9B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0000" y="5200000"/>
            <a:ext cx="10400000" cy="25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050" b="1">
                <a:solidFill>
                  <a:srgbClr val="8C532B"/>
                </a:solidFill>
                <a:latin typeface="Arial"/>
              </a:rPr>
              <a:t>NEXT: REVIEW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0000" y="5500000"/>
            <a:ext cx="10400000" cy="500000"/>
          </a:xfrm>
          <a:prstGeom prst="rect">
            <a:avLst/>
          </a:prstGeom>
          <a:noFill/>
        </p:spPr>
        <p:txBody>
          <a:bodyPr rtlCol="0" anchor="t" lIns="45720" tIns="45720" rIns="45720" bIns="45720"/>
          <a:lstStyle/>
          <a:p>
            <a:pPr algn="l"/>
            <a:r>
              <a:rPr lang="en-US" sz="1600" b="1">
                <a:solidFill>
                  <a:srgbClr val="1C1917"/>
                </a:solidFill>
                <a:latin typeface="Georgia"/>
              </a:rPr>
              <a:t>Proposed methodology  ·  System architecture  · 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ive Resource Theme">
  <a:themeElements>
    <a:clrScheme name="ARQ_Warm">
      <a:dk1>
        <a:srgbClr val="1C1917"/>
      </a:dk1>
      <a:lt1>
        <a:srgbClr val="FFFFFF"/>
      </a:lt1>
      <a:dk2>
        <a:srgbClr val="693818"/>
      </a:dk2>
      <a:lt2>
        <a:srgbClr val="F4EFEA"/>
      </a:lt2>
      <a:accent1>
        <a:srgbClr val="8C532B"/>
      </a:accent1>
      <a:accent2>
        <a:srgbClr val="235347"/>
      </a:accent2>
      <a:accent3>
        <a:srgbClr val="4682B4"/>
      </a:accent3>
      <a:accent4>
        <a:srgbClr val="D4AF37"/>
      </a:accent4>
      <a:accent5>
        <a:srgbClr val="708090"/>
      </a:accent5>
      <a:accent6>
        <a:srgbClr val="CD853F"/>
      </a:accent6>
      <a:hlink>
        <a:srgbClr val="0066CC"/>
      </a:hlink>
      <a:folHlink>
        <a:srgbClr val="800080"/>
      </a:folHlink>
    </a:clrScheme>
    <a:fontScheme name="ARQ_Fonts">
      <a:majorFont>
        <a:latin typeface="Georgia"/>
      </a:majorFont>
      <a:minorFont>
        <a:latin typeface="Arial"/>
      </a:minorFont>
    </a:fontScheme>
    <a:fmtScheme name="Office">
      <a:fillStyleLst>
        <a:solidFill>
          <a:srgbClr val="FFFFFF"/>
        </a:solidFill>
      </a:fillStyleLst>
      <a:lnStyleLst>
        <a:ln w="9525">
          <a:solidFill>
            <a:srgbClr val="CCCCCC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